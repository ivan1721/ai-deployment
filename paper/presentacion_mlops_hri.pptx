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91C1C"/>
                </a:solidFill>
                <a:latin typeface="Times New Roman"/>
              </a:rPr>
              <a:t>PROPUESTA DE INVESTIGACIÓN — PRESENTACIÓN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Times New Roman"/>
              </a:rPr>
              <a:t>Sistema Predictivo con MLOps para la Estimación de Carga de Trabajo y Producción en Cosechas Humano–Robot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F2937"/>
                </a:solidFill>
                <a:latin typeface="Times New Roman"/>
              </a:rPr>
              <a:t>Iv</a:t>
            </a:r>
            <a:r>
              <a:rPr lang="es-CL" sz="2000" b="1" i="0" dirty="0">
                <a:solidFill>
                  <a:srgbClr val="1F2937"/>
                </a:solidFill>
                <a:latin typeface="Times New Roman"/>
              </a:rPr>
              <a:t>a</a:t>
            </a:r>
            <a:r>
              <a:rPr sz="2000" b="1" i="0" dirty="0">
                <a:solidFill>
                  <a:srgbClr val="1F2937"/>
                </a:solidFill>
                <a:latin typeface="Times New Roman"/>
              </a:rPr>
              <a:t>n García Fernández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10515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500" b="0" i="0" dirty="0">
                <a:solidFill>
                  <a:srgbClr val="6B7280"/>
                </a:solidFill>
                <a:latin typeface="Times New Roman"/>
              </a:rPr>
              <a:t>Profesor Juan Felipe Calderon</a:t>
            </a:r>
          </a:p>
          <a:p>
            <a:pPr algn="l"/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Facultad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de Ingeniería · Universidad Andrés Bello · Santiago, Chile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97063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Times New Roman"/>
              </a:rPr>
              <a:t>i.garciafernandez@uandresbello.edu   ·   Julio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Times New Roman"/>
              </a:rPr>
              <a:t>Estudio base: García &amp; Vásconez, “Predicting workload and production in a human-robot collaborative avocado harvesting scenario” (Biosystems Engineering, en revisión)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Contenido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F2937"/>
                </a:solidFill>
                <a:latin typeface="Times New Roman"/>
              </a:rPr>
              <a:t>1.  Introducción y estado del arte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F2937"/>
                </a:solidFill>
                <a:latin typeface="Times New Roman"/>
              </a:rPr>
              <a:t>2.  Objetivos y preguntas de investigación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F2937"/>
                </a:solidFill>
                <a:latin typeface="Times New Roman"/>
              </a:rPr>
              <a:t>3.  Marco metodológico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F2937"/>
                </a:solidFill>
                <a:latin typeface="Times New Roman"/>
              </a:rPr>
              <a:t>4.  Resultados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F2937"/>
                </a:solidFill>
                <a:latin typeface="Times New Roman"/>
              </a:rPr>
              <a:t>5.  Breve demostración de lo realizado (en vivo)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2000" b="0" i="0">
                <a:solidFill>
                  <a:srgbClr val="1F2937"/>
                </a:solidFill>
                <a:latin typeface="Times New Roman"/>
              </a:rPr>
              <a:t>6.  Discusión y 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1 · INTRODUCCIÓN Y ESTADO DEL 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Contexto: cosecha agrícola y colaboración humano–robot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10642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La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cosecha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fruta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sigue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siendo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una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de las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operaciones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más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intensivas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mano de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obra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; la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automatización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total es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difícil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(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oclusiones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terreno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irregular,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iluminación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variable,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destreza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fina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).</a:t>
            </a:r>
          </a:p>
          <a:p>
            <a:pPr>
              <a:spcAft>
                <a:spcPts val="1200"/>
              </a:spcAft>
            </a:pPr>
            <a:r>
              <a:rPr sz="17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700" b="1" i="0" dirty="0" err="1">
                <a:solidFill>
                  <a:srgbClr val="1F2937"/>
                </a:solidFill>
                <a:latin typeface="Times New Roman"/>
              </a:rPr>
              <a:t>Colaboración</a:t>
            </a:r>
            <a:r>
              <a:rPr sz="1700" b="1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1" i="0" dirty="0" err="1">
                <a:solidFill>
                  <a:srgbClr val="1F2937"/>
                </a:solidFill>
                <a:latin typeface="Times New Roman"/>
              </a:rPr>
              <a:t>humano</a:t>
            </a:r>
            <a:r>
              <a:rPr sz="1700" b="1" i="0" dirty="0">
                <a:solidFill>
                  <a:srgbClr val="1F2937"/>
                </a:solidFill>
                <a:latin typeface="Times New Roman"/>
              </a:rPr>
              <a:t>–robot (HRC)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paradigma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intermedio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— el robot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asiste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(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transporte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logística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), no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reemplaza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al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trabajador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7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Caso de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estudio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cosecha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700" b="1" i="0" dirty="0" err="1">
                <a:solidFill>
                  <a:srgbClr val="1F2937"/>
                </a:solidFill>
                <a:latin typeface="Times New Roman"/>
              </a:rPr>
              <a:t>paltas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parametrizada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con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datos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una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granja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chilena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; un robot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móvil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recoge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y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transporta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las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cajas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cosechadas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a la zona de carga.</a:t>
            </a:r>
          </a:p>
          <a:p>
            <a:pPr>
              <a:spcAft>
                <a:spcPts val="1200"/>
              </a:spcAft>
            </a:pPr>
            <a:r>
              <a:rPr sz="17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Estudio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referencia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(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Vásconez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&amp;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Auat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Cheein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, 2022): la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estrategia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cooperativa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aumenta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producción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1" i="0" dirty="0">
                <a:solidFill>
                  <a:srgbClr val="1F2937"/>
                </a:solidFill>
                <a:latin typeface="Times New Roman"/>
              </a:rPr>
              <a:t>23–85%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con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incrementos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de workload de solo </a:t>
            </a:r>
            <a:r>
              <a:rPr sz="1700" b="1" i="0" dirty="0">
                <a:solidFill>
                  <a:srgbClr val="1F2937"/>
                </a:solidFill>
                <a:latin typeface="Times New Roman"/>
              </a:rPr>
              <a:t>1–16%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(41 corridas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por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escenario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).</a:t>
            </a:r>
          </a:p>
          <a:p>
            <a:pPr>
              <a:spcAft>
                <a:spcPts val="1200"/>
              </a:spcAft>
            </a:pPr>
            <a:r>
              <a:rPr sz="17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Limitación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evaluación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700" b="1" i="0" dirty="0" err="1">
                <a:solidFill>
                  <a:srgbClr val="1F2937"/>
                </a:solidFill>
                <a:latin typeface="Times New Roman"/>
              </a:rPr>
              <a:t>escenarios</a:t>
            </a:r>
            <a:r>
              <a:rPr sz="1700" b="1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1" i="0" dirty="0" err="1">
                <a:solidFill>
                  <a:srgbClr val="1F2937"/>
                </a:solidFill>
                <a:latin typeface="Times New Roman"/>
              </a:rPr>
              <a:t>fijos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— no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permite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anticipar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el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comportamiento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configuraciones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no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simuladas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(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más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trabajadores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700" b="0" i="0" dirty="0" err="1">
                <a:solidFill>
                  <a:srgbClr val="1F2937"/>
                </a:solidFill>
                <a:latin typeface="Times New Roman"/>
              </a:rPr>
              <a:t>más</a:t>
            </a:r>
            <a:r>
              <a:rPr sz="1700" b="0" i="0" dirty="0">
                <a:solidFill>
                  <a:srgbClr val="1F2937"/>
                </a:solidFill>
                <a:latin typeface="Times New Roman"/>
              </a:rPr>
              <a:t> robots).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1 · INTRODUCCIÓN Y ESTADO DEL 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Estado del arte y las dos brechas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Tres frentes activos en HRC agrícola: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Times New Roman"/>
              </a:rPr>
              <a:t>      –  </a:t>
            </a:r>
            <a:r>
              <a:rPr sz="1500" b="1" i="0">
                <a:solidFill>
                  <a:srgbClr val="6B7280"/>
                </a:solidFill>
                <a:latin typeface="Times New Roman"/>
              </a:rPr>
              <a:t>Interacción</a:t>
            </a:r>
            <a:r>
              <a:rPr sz="1500" b="0" i="0">
                <a:solidFill>
                  <a:srgbClr val="6B7280"/>
                </a:solidFill>
                <a:latin typeface="Times New Roman"/>
              </a:rPr>
              <a:t>: reconocimiento de actividad humana, navegación social, seguridad ante contacto.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Times New Roman"/>
              </a:rPr>
              <a:t>      –  </a:t>
            </a:r>
            <a:r>
              <a:rPr sz="1500" b="1" i="0">
                <a:solidFill>
                  <a:srgbClr val="6B7280"/>
                </a:solidFill>
                <a:latin typeface="Times New Roman"/>
              </a:rPr>
              <a:t>Ergonomía</a:t>
            </a:r>
            <a:r>
              <a:rPr sz="1500" b="0" i="0">
                <a:solidFill>
                  <a:srgbClr val="6B7280"/>
                </a:solidFill>
                <a:latin typeface="Times New Roman"/>
              </a:rPr>
              <a:t>: workload físico vía tasas metabólicas normalizadas (ISO 8996:2004) como criterio de diseño.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Times New Roman"/>
              </a:rPr>
              <a:t>      –  </a:t>
            </a:r>
            <a:r>
              <a:rPr sz="1500" b="1" i="0">
                <a:solidFill>
                  <a:srgbClr val="6B7280"/>
                </a:solidFill>
                <a:latin typeface="Times New Roman"/>
              </a:rPr>
              <a:t>Simulación multiagente</a:t>
            </a:r>
            <a:r>
              <a:rPr sz="1500" b="0" i="0">
                <a:solidFill>
                  <a:srgbClr val="6B7280"/>
                </a:solidFill>
                <a:latin typeface="Times New Roman"/>
              </a:rPr>
              <a:t>: plataforma controlada y reproducible de generación de datos operativos.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ML en agricultura: los ensembles (Random Forest, XGBoost) dominan la regresión tabular; k-fold y regularización sostienen datasets acotados.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>
                <a:solidFill>
                  <a:srgbClr val="1F2937"/>
                </a:solidFill>
                <a:latin typeface="Times New Roman"/>
              </a:rPr>
              <a:t>Brecha científica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: predecir producción y workload como función de la configuración del equipo humano–robot → cerrada por el estudio companion (Biosystems Eng., en revisión).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>
                <a:solidFill>
                  <a:srgbClr val="1F2937"/>
                </a:solidFill>
                <a:latin typeface="Times New Roman"/>
              </a:rPr>
              <a:t>Brecha de ingeniería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: la adopción de MLOps en agricultura de precisión es incipiente (contados casos documentados con CI/CD) → objeto de este trabajo.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1 · INTRODUCCIÓN Y ESTADO DEL 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Un proyecto, dos frentes complementarios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Frente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científico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(paper companion):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diseño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factorial 144 corridas/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escenario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· ANOVA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tipo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II ·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torneo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12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modelos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· forecasting y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análisis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multi-robot — R² CV ≥ 0,98.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Frente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ingeniería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(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este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trabajo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):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convertir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ese pipeline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validado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un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servicio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operativo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seguro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observable y reproducible.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Contribuciones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:</a:t>
            </a:r>
          </a:p>
          <a:p>
            <a:pPr>
              <a:spcAft>
                <a:spcPts val="1000"/>
              </a:spcAft>
            </a:pPr>
            <a:r>
              <a:rPr sz="1500" b="0" i="0" dirty="0">
                <a:solidFill>
                  <a:srgbClr val="6B7280"/>
                </a:solidFill>
                <a:latin typeface="Times New Roman"/>
              </a:rPr>
              <a:t>      –  1)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Arquitectura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MLOps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de </a:t>
            </a:r>
            <a:r>
              <a:rPr sz="1500" b="1" i="0" dirty="0" err="1">
                <a:solidFill>
                  <a:srgbClr val="6B7280"/>
                </a:solidFill>
                <a:latin typeface="Times New Roman"/>
              </a:rPr>
              <a:t>cinco</a:t>
            </a:r>
            <a:r>
              <a:rPr sz="1500" b="1" i="0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500" b="1" i="0" dirty="0" err="1">
                <a:solidFill>
                  <a:srgbClr val="6B7280"/>
                </a:solidFill>
                <a:latin typeface="Times New Roman"/>
              </a:rPr>
              <a:t>capas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,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dirigida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por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configuración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YAML.</a:t>
            </a:r>
          </a:p>
          <a:p>
            <a:pPr>
              <a:spcAft>
                <a:spcPts val="1000"/>
              </a:spcAft>
            </a:pPr>
            <a:r>
              <a:rPr sz="1500" b="0" i="0" dirty="0">
                <a:solidFill>
                  <a:srgbClr val="6B7280"/>
                </a:solidFill>
                <a:latin typeface="Times New Roman"/>
              </a:rPr>
              <a:t>      –  2) API de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inferencia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500" b="1" i="0" dirty="0" err="1">
                <a:solidFill>
                  <a:srgbClr val="6B7280"/>
                </a:solidFill>
                <a:latin typeface="Times New Roman"/>
              </a:rPr>
              <a:t>genérica</a:t>
            </a:r>
            <a:r>
              <a:rPr sz="1500" b="1" i="0" dirty="0">
                <a:solidFill>
                  <a:srgbClr val="6B7280"/>
                </a:solidFill>
                <a:latin typeface="Times New Roman"/>
              </a:rPr>
              <a:t> multi-</a:t>
            </a:r>
            <a:r>
              <a:rPr sz="1500" b="1" i="0" dirty="0" err="1">
                <a:solidFill>
                  <a:srgbClr val="6B7280"/>
                </a:solidFill>
                <a:latin typeface="Times New Roman"/>
              </a:rPr>
              <a:t>experimento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(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sirve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cualquier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modelo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del registry sin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cambios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de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código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1500" b="0" i="0" dirty="0">
                <a:solidFill>
                  <a:srgbClr val="6B7280"/>
                </a:solidFill>
                <a:latin typeface="Times New Roman"/>
              </a:rPr>
              <a:t>      –  3)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Pirámide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de QA de </a:t>
            </a:r>
            <a:r>
              <a:rPr sz="1500" b="1" i="0" dirty="0">
                <a:solidFill>
                  <a:srgbClr val="6B7280"/>
                </a:solidFill>
                <a:latin typeface="Times New Roman"/>
              </a:rPr>
              <a:t>seis </a:t>
            </a:r>
            <a:r>
              <a:rPr sz="1500" b="1" i="0" dirty="0" err="1">
                <a:solidFill>
                  <a:srgbClr val="6B7280"/>
                </a:solidFill>
                <a:latin typeface="Times New Roman"/>
              </a:rPr>
              <a:t>niveles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con gates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por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sub-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grupo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(slices).</a:t>
            </a:r>
          </a:p>
          <a:p>
            <a:pPr>
              <a:spcAft>
                <a:spcPts val="1000"/>
              </a:spcAft>
            </a:pPr>
            <a:r>
              <a:rPr sz="1500" b="0" i="0" dirty="0">
                <a:solidFill>
                  <a:srgbClr val="6B7280"/>
                </a:solidFill>
                <a:latin typeface="Times New Roman"/>
              </a:rPr>
              <a:t>      –  4)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Versionado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de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datos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con </a:t>
            </a:r>
            <a:r>
              <a:rPr sz="1500" b="1" i="0" dirty="0">
                <a:solidFill>
                  <a:srgbClr val="6B7280"/>
                </a:solidFill>
                <a:latin typeface="Times New Roman"/>
              </a:rPr>
              <a:t>doble </a:t>
            </a:r>
            <a:r>
              <a:rPr sz="1500" b="1" i="0" dirty="0" err="1">
                <a:solidFill>
                  <a:srgbClr val="6B7280"/>
                </a:solidFill>
                <a:latin typeface="Times New Roman"/>
              </a:rPr>
              <a:t>remoto</a:t>
            </a:r>
            <a:r>
              <a:rPr sz="1500" b="1" i="0" dirty="0">
                <a:solidFill>
                  <a:srgbClr val="6B7280"/>
                </a:solidFill>
                <a:latin typeface="Times New Roman"/>
              </a:rPr>
              <a:t> DVC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(local para CI/CD · Google Drive para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desarrollo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1500" b="0" i="0" dirty="0">
                <a:solidFill>
                  <a:srgbClr val="6B7280"/>
                </a:solidFill>
                <a:latin typeface="Times New Roman"/>
              </a:rPr>
              <a:t>      –  5) </a:t>
            </a:r>
            <a:r>
              <a:rPr sz="1500" b="1" i="0" dirty="0" err="1">
                <a:solidFill>
                  <a:srgbClr val="6B7280"/>
                </a:solidFill>
                <a:latin typeface="Times New Roman"/>
              </a:rPr>
              <a:t>Validación</a:t>
            </a:r>
            <a:r>
              <a:rPr sz="1500" b="1" i="0" dirty="0">
                <a:solidFill>
                  <a:srgbClr val="6B7280"/>
                </a:solidFill>
                <a:latin typeface="Times New Roman"/>
              </a:rPr>
              <a:t> end-to-end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con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hallazgos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reales y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su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evolución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bajo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reentrenamiento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6B7280"/>
                </a:solidFill>
                <a:latin typeface="Times New Roman"/>
              </a:rPr>
              <a:t>automático</a:t>
            </a:r>
            <a:r>
              <a:rPr sz="1500" b="0" i="0" dirty="0">
                <a:solidFill>
                  <a:srgbClr val="6B7280"/>
                </a:solidFill>
                <a:latin typeface="Times New Roman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2 · OBJETIVOS Y PREGUNTAS DE INVESTIGACIÓN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Objetivos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Objetivo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 general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desarrollar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implementar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un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sistema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predictivo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ML,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desplegado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bajo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una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arquitectura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MLOps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que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estime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workload y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producción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cosecha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humano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–robot,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accesible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como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servicio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REST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un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entorno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testing similar a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producción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OE1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—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Consolidar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los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datos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simulación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y el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análisis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estadístico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(ANOVA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tipo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II);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incorporar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los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conjuntos de variables A/B/C al pipeline del stack (8 targets).</a:t>
            </a:r>
          </a:p>
          <a:p>
            <a:pPr>
              <a:spcAft>
                <a:spcPts val="12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OE2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—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Reproducir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el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torneo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12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modelos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regresión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verificando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consistencia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con el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estudio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offline (R², MAE, RMSE,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sMAPE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).</a:t>
            </a:r>
          </a:p>
          <a:p>
            <a:pPr>
              <a:spcAft>
                <a:spcPts val="12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OE3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—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Implementar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la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arquitectura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MLOps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MLflow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/PostgreSQL, DVC,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FastAPI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Keycloak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/TLS,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Prometheus+Grafana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drift + champion/challenger, CI/CD self-hosted.</a:t>
            </a:r>
          </a:p>
          <a:p>
            <a:pPr>
              <a:spcAft>
                <a:spcPts val="12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OE4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— Validar el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sistema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con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una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pirámide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pruebas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seis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niveles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(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datos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modelo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API, drift, slices,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contrato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2 · OBJETIVOS Y PREGUNTAS DE INVESTIGACIÓN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Preguntas de investigación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800" b="1" i="0">
                <a:solidFill>
                  <a:srgbClr val="1F2937"/>
                </a:solidFill>
                <a:latin typeface="Times New Roman"/>
              </a:rPr>
              <a:t>PI-1</a:t>
            </a:r>
            <a:r>
              <a:rPr sz="1800" b="0" i="0">
                <a:solidFill>
                  <a:srgbClr val="1F2937"/>
                </a:solidFill>
                <a:latin typeface="Times New Roman"/>
              </a:rPr>
              <a:t> — ¿Se reproducen en el stack desplegado las jerarquías de variables del ANOVA tipo II (dominancia de Workers, interacción Workers×Actividad), al contrastar el feature_ranking.json de producción con la jerarquía offline?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800" b="1" i="0">
                <a:solidFill>
                  <a:srgbClr val="1F2937"/>
                </a:solidFill>
                <a:latin typeface="Times New Roman"/>
              </a:rPr>
              <a:t>PI-2</a:t>
            </a:r>
            <a:r>
              <a:rPr sz="1800" b="0" i="0">
                <a:solidFill>
                  <a:srgbClr val="1F2937"/>
                </a:solidFill>
                <a:latin typeface="Times New Roman"/>
              </a:rPr>
              <a:t> — ¿El torneo automatizado selecciona las mismas familias ganadoras que el estudio offline (polinomial grado 3, ensembles de boosting), y qué aporta el Set C al desempeño y a la mitigación del sesgo por sub-grupo?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800" b="1" i="0">
                <a:solidFill>
                  <a:srgbClr val="1F2937"/>
                </a:solidFill>
                <a:latin typeface="Times New Roman"/>
              </a:rPr>
              <a:t>PI-3</a:t>
            </a:r>
            <a:r>
              <a:rPr sz="1800" b="0" i="0">
                <a:solidFill>
                  <a:srgbClr val="1F2937"/>
                </a:solidFill>
                <a:latin typeface="Times New Roman"/>
              </a:rPr>
              <a:t> — ¿Qué métricas de calidad de servicio (latencia, reproducibilidad entre ejecuciones) alcanza el sistema desplegado en el entorno de testing con contenedores?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3 · MARCO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Times New Roman"/>
              </a:rPr>
              <a:t>Pipeline de cinco etapas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ri_pipeline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966" y="1279156"/>
            <a:ext cx="8601762" cy="5250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rgbClr val="6B7280"/>
                </a:solidFill>
                <a:latin typeface="Times New Roman"/>
              </a:rPr>
              <a:t>Etapas</a:t>
            </a:r>
            <a:r>
              <a:rPr sz="1200" b="0" i="1" dirty="0">
                <a:solidFill>
                  <a:srgbClr val="6B7280"/>
                </a:solidFill>
                <a:latin typeface="Times New Roman"/>
              </a:rPr>
              <a:t> 1–4: pipeline </a:t>
            </a:r>
            <a:r>
              <a:rPr sz="1200" b="0" i="1" dirty="0" err="1">
                <a:solidFill>
                  <a:srgbClr val="6B7280"/>
                </a:solidFill>
                <a:latin typeface="Times New Roman"/>
              </a:rPr>
              <a:t>científico</a:t>
            </a:r>
            <a:r>
              <a:rPr sz="1200" b="0" i="1" dirty="0">
                <a:solidFill>
                  <a:srgbClr val="6B7280"/>
                </a:solidFill>
                <a:latin typeface="Times New Roman"/>
              </a:rPr>
              <a:t> del </a:t>
            </a:r>
            <a:r>
              <a:rPr sz="1200" b="0" i="1" dirty="0" err="1">
                <a:solidFill>
                  <a:srgbClr val="6B7280"/>
                </a:solidFill>
                <a:latin typeface="Times New Roman"/>
              </a:rPr>
              <a:t>estudio</a:t>
            </a:r>
            <a:r>
              <a:rPr sz="1200" b="0" i="1" dirty="0">
                <a:solidFill>
                  <a:srgbClr val="6B7280"/>
                </a:solidFill>
                <a:latin typeface="Times New Roman"/>
              </a:rPr>
              <a:t> base (</a:t>
            </a:r>
            <a:r>
              <a:rPr sz="1200" b="0" i="1" dirty="0" err="1">
                <a:solidFill>
                  <a:srgbClr val="6B7280"/>
                </a:solidFill>
                <a:latin typeface="Times New Roman"/>
              </a:rPr>
              <a:t>simulación</a:t>
            </a:r>
            <a:r>
              <a:rPr sz="1200" b="0" i="1" dirty="0">
                <a:solidFill>
                  <a:srgbClr val="6B7280"/>
                </a:solidFill>
                <a:latin typeface="Times New Roman"/>
              </a:rPr>
              <a:t> → ANOVA </a:t>
            </a:r>
            <a:r>
              <a:rPr sz="1200" b="0" i="1" dirty="0" err="1">
                <a:solidFill>
                  <a:srgbClr val="6B7280"/>
                </a:solidFill>
                <a:latin typeface="Times New Roman"/>
              </a:rPr>
              <a:t>tipo</a:t>
            </a:r>
            <a:r>
              <a:rPr sz="1200" b="0" i="1" dirty="0">
                <a:solidFill>
                  <a:srgbClr val="6B7280"/>
                </a:solidFill>
                <a:latin typeface="Times New Roman"/>
              </a:rPr>
              <a:t> II → </a:t>
            </a:r>
            <a:r>
              <a:rPr sz="1200" b="0" i="1" dirty="0" err="1">
                <a:solidFill>
                  <a:srgbClr val="6B7280"/>
                </a:solidFill>
                <a:latin typeface="Times New Roman"/>
              </a:rPr>
              <a:t>torneo</a:t>
            </a:r>
            <a:r>
              <a:rPr sz="1200" b="0" i="1" dirty="0">
                <a:solidFill>
                  <a:srgbClr val="6B7280"/>
                </a:solidFill>
                <a:latin typeface="Times New Roman"/>
              </a:rPr>
              <a:t> ML → forecasting).  Etapa 5 (rojo): </a:t>
            </a:r>
            <a:r>
              <a:rPr sz="1200" b="0" i="1" dirty="0" err="1">
                <a:solidFill>
                  <a:srgbClr val="6B7280"/>
                </a:solidFill>
                <a:latin typeface="Times New Roman"/>
              </a:rPr>
              <a:t>despliegue</a:t>
            </a:r>
            <a:r>
              <a:rPr sz="1200" b="0" i="1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200" b="0" i="1" dirty="0" err="1">
                <a:solidFill>
                  <a:srgbClr val="6B7280"/>
                </a:solidFill>
                <a:latin typeface="Times New Roman"/>
              </a:rPr>
              <a:t>MLOps</a:t>
            </a:r>
            <a:r>
              <a:rPr sz="1200" b="0" i="1" dirty="0">
                <a:solidFill>
                  <a:srgbClr val="6B7280"/>
                </a:solidFill>
                <a:latin typeface="Times New Roman"/>
              </a:rPr>
              <a:t> — la </a:t>
            </a:r>
            <a:r>
              <a:rPr sz="1200" b="0" i="1" dirty="0" err="1">
                <a:solidFill>
                  <a:srgbClr val="6B7280"/>
                </a:solidFill>
                <a:latin typeface="Times New Roman"/>
              </a:rPr>
              <a:t>contribución</a:t>
            </a:r>
            <a:r>
              <a:rPr sz="1200" b="0" i="1" dirty="0">
                <a:solidFill>
                  <a:srgbClr val="6B7280"/>
                </a:solidFill>
                <a:latin typeface="Times New Roman"/>
              </a:rPr>
              <a:t> de </a:t>
            </a:r>
            <a:r>
              <a:rPr sz="1200" b="0" i="1" dirty="0" err="1">
                <a:solidFill>
                  <a:srgbClr val="6B7280"/>
                </a:solidFill>
                <a:latin typeface="Times New Roman"/>
              </a:rPr>
              <a:t>este</a:t>
            </a:r>
            <a:r>
              <a:rPr sz="1200" b="0" i="1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200" b="0" i="1" dirty="0" err="1">
                <a:solidFill>
                  <a:srgbClr val="6B7280"/>
                </a:solidFill>
                <a:latin typeface="Times New Roman"/>
              </a:rPr>
              <a:t>trabajo</a:t>
            </a:r>
            <a:r>
              <a:rPr sz="1200" b="0" i="1" dirty="0">
                <a:solidFill>
                  <a:srgbClr val="6B7280"/>
                </a:solidFill>
                <a:latin typeface="Times New Roman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3 · MARCO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Datos, análisis estadístico y torneo de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Simulación multiagente MATLAB: huerto de 12 árboles en 3 filas, T = 600 s (Δt = 0,25 s); workload acumulado por costos metabólicos por estado (ISO 8996:2004).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Diseño factorial completo: Workers (1–12) × Fila (1–3) × Actividad (4) × Posición (2) → </a:t>
            </a:r>
            <a:r>
              <a:rPr sz="1600" b="1" i="0">
                <a:solidFill>
                  <a:srgbClr val="1F2937"/>
                </a:solidFill>
                <a:latin typeface="Times New Roman"/>
              </a:rPr>
              <a:t>144 corridas por escenario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 (288 diseñadas; 284 válidas desplegadas, versionadas con DVC).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Escenario B: robot 4WS con LIDAR (13 haces) y 3 controladores difusos Mamdani; el robot </a:t>
            </a:r>
            <a:r>
              <a:rPr sz="1600" b="1" i="0">
                <a:solidFill>
                  <a:srgbClr val="1F2937"/>
                </a:solidFill>
                <a:latin typeface="Times New Roman"/>
              </a:rPr>
              <a:t>asume el transporte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 — se eliminan esos estados del ciclo humano.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>
                <a:solidFill>
                  <a:srgbClr val="1F2937"/>
                </a:solidFill>
                <a:latin typeface="Times New Roman"/>
              </a:rPr>
              <a:t>ANOVA tipo II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 (α = 0,05; preferible al tipo III con interacciones) → conjuntos de variables: Set A (6 features) · Set B (significativas) · Set C (+ 3 términos W×Actividad, 9 features).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>
                <a:solidFill>
                  <a:srgbClr val="1F2937"/>
                </a:solidFill>
                <a:latin typeface="Times New Roman"/>
              </a:rPr>
              <a:t>Torneo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: 12 algoritmos × 8 slots (2 escenarios × 4 targets) · CV 5-fold + hold-out 80/20 · quality gate R² ≥ 0,70 → promoción a Production en MLflow.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3 · MARCO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Arquitectura MLOps de cinco capas (Etapa 5)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4066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C1 — Registro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MLflow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2.x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sobre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PostgreSQL + DVC con doble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remoto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(local para el runner CI/CD · Google Drive con OAuth para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desarrollo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C2 — Servicio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FastAPI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genérico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multi-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experimento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(endpoints HRI + /models)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tras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nginx con TLS (80→443).</a:t>
            </a:r>
          </a:p>
          <a:p>
            <a:pPr>
              <a:spcAft>
                <a:spcPts val="10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C3 — </a:t>
            </a:r>
            <a:r>
              <a:rPr sz="1500" b="1" i="0" dirty="0" err="1">
                <a:solidFill>
                  <a:srgbClr val="1F2937"/>
                </a:solidFill>
                <a:latin typeface="Times New Roman"/>
              </a:rPr>
              <a:t>Seguridad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 y </a:t>
            </a:r>
            <a:r>
              <a:rPr sz="1500" b="1" i="0" dirty="0" err="1">
                <a:solidFill>
                  <a:srgbClr val="1F2937"/>
                </a:solidFill>
                <a:latin typeface="Times New Roman"/>
              </a:rPr>
              <a:t>observabilidad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Keycloak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+ oauth2-proxy (SSO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/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mlflow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) · X-API-Key (API) · Prometheus (8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métricas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, scrape 15 s) + Grafana (8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paneles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C4 — </a:t>
            </a:r>
            <a:r>
              <a:rPr sz="1500" b="1" i="0" dirty="0" err="1">
                <a:solidFill>
                  <a:srgbClr val="1F2937"/>
                </a:solidFill>
                <a:latin typeface="Times New Roman"/>
              </a:rPr>
              <a:t>Monitoreo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: drift de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datos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y de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concepto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(KS) + performance drift (effect size, t-test, EWMA) →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reentrenamiento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champion/challenger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automático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C5 — CI/CD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: runner self-hosted —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dvc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pull → lint → build → train → QA de 6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niveles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como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780057"/>
            <a:ext cx="2926080" cy="4505912"/>
          </a:xfrm>
          <a:prstGeom prst="roundRect">
            <a:avLst>
              <a:gd name="adj" fmla="val 7829"/>
            </a:avLst>
          </a:prstGeom>
          <a:blipFill>
            <a:blip r:embed="rId2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53058" y="4383575"/>
            <a:ext cx="3383280" cy="210312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F0A889A5-9C2F-5D2A-1BEF-4C45EEF44B00}"/>
              </a:ext>
            </a:extLst>
          </p:cNvPr>
          <p:cNvSpPr/>
          <p:nvPr/>
        </p:nvSpPr>
        <p:spPr>
          <a:xfrm>
            <a:off x="8503920" y="5523345"/>
            <a:ext cx="2926080" cy="96335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4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Resultados del pipeline científico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0" i="0">
                <a:solidFill>
                  <a:srgbClr val="1F2937"/>
                </a:solidFill>
                <a:latin typeface="Times New Roman"/>
              </a:rPr>
              <a:t>ANOVA: los 4 factores significativos (p &lt; 0,001) en ambos escenarios, R² ≥ 0,95; </a:t>
            </a:r>
            <a:r>
              <a:rPr sz="1500" b="1" i="0">
                <a:solidFill>
                  <a:srgbClr val="1F2937"/>
                </a:solidFill>
                <a:latin typeface="Times New Roman"/>
              </a:rPr>
              <a:t>Workers domina</a:t>
            </a:r>
            <a:r>
              <a:rPr sz="1500" b="0" i="0">
                <a:solidFill>
                  <a:srgbClr val="1F2937"/>
                </a:solidFill>
                <a:latin typeface="Times New Roman"/>
              </a:rPr>
              <a:t>; W×Actividad significativa → Set C.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0" i="0">
                <a:solidFill>
                  <a:srgbClr val="1F2937"/>
                </a:solidFill>
                <a:latin typeface="Times New Roman"/>
              </a:rPr>
              <a:t>Robot: producción total </a:t>
            </a:r>
            <a:r>
              <a:rPr sz="1500" b="1" i="0">
                <a:solidFill>
                  <a:srgbClr val="1F2937"/>
                </a:solidFill>
                <a:latin typeface="Times New Roman"/>
              </a:rPr>
              <a:t>+34–64%</a:t>
            </a:r>
            <a:r>
              <a:rPr sz="1500" b="0" i="0">
                <a:solidFill>
                  <a:srgbClr val="1F2937"/>
                </a:solidFill>
                <a:latin typeface="Times New Roman"/>
              </a:rPr>
              <a:t> · zona de carga </a:t>
            </a:r>
            <a:r>
              <a:rPr sz="1500" b="1" i="0">
                <a:solidFill>
                  <a:srgbClr val="1F2937"/>
                </a:solidFill>
                <a:latin typeface="Times New Roman"/>
              </a:rPr>
              <a:t>+16–41%</a:t>
            </a:r>
            <a:r>
              <a:rPr sz="1500" b="0" i="0">
                <a:solidFill>
                  <a:srgbClr val="1F2937"/>
                </a:solidFill>
                <a:latin typeface="Times New Roman"/>
              </a:rPr>
              <a:t> · workload solo </a:t>
            </a:r>
            <a:r>
              <a:rPr sz="1500" b="1" i="0">
                <a:solidFill>
                  <a:srgbClr val="1F2937"/>
                </a:solidFill>
                <a:latin typeface="Times New Roman"/>
              </a:rPr>
              <a:t>+5–13%</a:t>
            </a:r>
            <a:r>
              <a:rPr sz="1500" b="0" i="0">
                <a:solidFill>
                  <a:srgbClr val="1F2937"/>
                </a:solidFill>
                <a:latin typeface="Times New Roman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0" i="0">
                <a:solidFill>
                  <a:srgbClr val="1F2937"/>
                </a:solidFill>
                <a:latin typeface="Times New Roman"/>
              </a:rPr>
              <a:t>Sin saturación del robot hasta 12 trabajadores; máximo de zona de carga en 18–20 → ratio robot:trabajadores ≈ </a:t>
            </a:r>
            <a:r>
              <a:rPr sz="1500" b="1" i="0">
                <a:solidFill>
                  <a:srgbClr val="1F2937"/>
                </a:solidFill>
                <a:latin typeface="Times New Roman"/>
              </a:rPr>
              <a:t>1:18–20</a:t>
            </a:r>
            <a:r>
              <a:rPr sz="1500" b="0" i="0">
                <a:solidFill>
                  <a:srgbClr val="1F2937"/>
                </a:solidFill>
                <a:latin typeface="Times New Roman"/>
              </a:rPr>
              <a:t> (conjetura de diseño).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5080" y="1554480"/>
          <a:ext cx="5486400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Escenario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Target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Modelo (set)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R² CV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Solo humanos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Total recolectado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Polinomial g.3 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0,999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Solo humanos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Zona de carga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Polinomial g.3 (B)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0,998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Solo humanos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Grad. Boosting (C)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0,9997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Solo humanos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Prod. promedio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XGBoost (C)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0,992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Humano–robot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Total recolectado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Grad. Boosting (A)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0,9998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Humano–robot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Zona de carga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XGBoost (C)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0,981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Humano–robot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Grad. Boosting (A)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1,000 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Humano–robot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Prod. promedio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Árbol decisión (A)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Times New Roman"/>
                        </a:rPr>
                        <a:t>1,000 †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5120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Times New Roman"/>
              </a:rPr>
              <a:t>† Ajuste perfecto por determinismo del simulador (memorización): cota superior, no evidencia de generalización a terreno.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4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El stack en operación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11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servicios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Docker Compose (9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permanentes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) ·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8 </a:t>
            </a:r>
            <a:r>
              <a:rPr sz="1500" b="1" i="0" dirty="0" err="1">
                <a:solidFill>
                  <a:srgbClr val="1F2937"/>
                </a:solidFill>
                <a:latin typeface="Times New Roman"/>
              </a:rPr>
              <a:t>modelos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1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 Production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cargados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y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servidos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.</a:t>
            </a:r>
          </a:p>
          <a:p>
            <a:pPr>
              <a:spcAft>
                <a:spcPts val="11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Predicción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los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4 targets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una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llamada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, bajo TLS + API key,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dentro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del gate de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500 </a:t>
            </a:r>
            <a:r>
              <a:rPr sz="1500" b="1" i="0" dirty="0" err="1">
                <a:solidFill>
                  <a:srgbClr val="1F2937"/>
                </a:solidFill>
                <a:latin typeface="Times New Roman"/>
              </a:rPr>
              <a:t>ms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.</a:t>
            </a:r>
            <a:endParaRPr sz="1500" b="0" i="0" dirty="0">
              <a:solidFill>
                <a:srgbClr val="1F2937"/>
              </a:solidFill>
              <a:latin typeface="Times New Roman"/>
            </a:endParaRPr>
          </a:p>
          <a:p>
            <a:pPr>
              <a:spcAft>
                <a:spcPts val="11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Una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semana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operación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continua: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ciclos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champion/challenger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automáticos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→ registry con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versiones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416–3353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por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slot.</a:t>
            </a:r>
          </a:p>
          <a:p>
            <a:pPr>
              <a:spcAft>
                <a:spcPts val="11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DVC doble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remoto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verificado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end-to-end: dataset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eliminado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y </a:t>
            </a:r>
            <a:r>
              <a:rPr sz="1500" b="1" i="0" dirty="0" err="1">
                <a:solidFill>
                  <a:srgbClr val="1F2937"/>
                </a:solidFill>
                <a:latin typeface="Times New Roman"/>
              </a:rPr>
              <a:t>restaurado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1" i="0" dirty="0" err="1">
                <a:solidFill>
                  <a:srgbClr val="1F2937"/>
                </a:solidFill>
                <a:latin typeface="Times New Roman"/>
              </a:rPr>
              <a:t>desde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 Google Drive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con MD5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idéntico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2926080" cy="219456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098280" y="880235"/>
            <a:ext cx="2926080" cy="219456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35040" y="3931920"/>
            <a:ext cx="2926080" cy="219456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098280" y="3211495"/>
            <a:ext cx="2926080" cy="13716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5772275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4E09A240-343C-B475-CA81-D8A9A31442A3}"/>
              </a:ext>
            </a:extLst>
          </p:cNvPr>
          <p:cNvSpPr/>
          <p:nvPr/>
        </p:nvSpPr>
        <p:spPr>
          <a:xfrm>
            <a:off x="9098280" y="4720715"/>
            <a:ext cx="2926080" cy="13716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4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Validación end-to-end: pirámide de seis niveles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00200"/>
          <a:ext cx="5394960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Nivel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Resultado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Detalle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1 —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28/28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2 — Modelo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82/82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3 —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36/37 — hallazgo (i)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4 — Performance drift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FAIL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16/19 — hallazgo (ii)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5 — Model slices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60/61 — hallazgo (iii)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6 — Contrato API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Times New Roman"/>
                        </a:rPr>
                        <a:t>26/26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600200"/>
            <a:ext cx="53035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400" b="1" i="0">
                <a:solidFill>
                  <a:srgbClr val="1F2937"/>
                </a:solidFill>
                <a:latin typeface="Times New Roman"/>
              </a:rPr>
              <a:t>(i)</a:t>
            </a:r>
            <a:r>
              <a:rPr sz="1400" b="0" i="0">
                <a:solidFill>
                  <a:srgbClr val="1F2937"/>
                </a:solidFill>
                <a:latin typeface="Times New Roman"/>
              </a:rPr>
              <a:t> GET /models/{name} inexistente → HTTP 503 en vez de 404.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400" b="1" i="0">
                <a:solidFill>
                  <a:srgbClr val="1F2937"/>
                </a:solidFill>
                <a:latin typeface="Times New Roman"/>
              </a:rPr>
              <a:t>(ii)</a:t>
            </a:r>
            <a:r>
              <a:rPr sz="1400" b="0" i="0">
                <a:solidFill>
                  <a:srgbClr val="1F2937"/>
                </a:solidFill>
                <a:latin typeface="Times New Roman"/>
              </a:rPr>
              <a:t> Detector de performance drift: falsos positivos (RMSE/MAE) sobre datos estables.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400" b="1" i="0">
                <a:solidFill>
                  <a:srgbClr val="1F2937"/>
                </a:solidFill>
                <a:latin typeface="Times New Roman"/>
              </a:rPr>
              <a:t>(iii)</a:t>
            </a:r>
            <a:r>
              <a:rPr sz="1400" b="0" i="0">
                <a:solidFill>
                  <a:srgbClr val="1F2937"/>
                </a:solidFill>
                <a:latin typeface="Times New Roman"/>
              </a:rPr>
              <a:t> Sesgo por sub-grupo en WithRobot-AvgProduction: slice harv_ladder con R² = 0,00.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400" b="1" i="0">
                <a:solidFill>
                  <a:srgbClr val="1F2937"/>
                </a:solidFill>
                <a:latin typeface="Times New Roman"/>
              </a:rPr>
              <a:t>(iv)</a:t>
            </a:r>
            <a:r>
              <a:rPr sz="1400" b="0" i="0">
                <a:solidFill>
                  <a:srgbClr val="1F2937"/>
                </a:solidFill>
                <a:latin typeface="Times New Roman"/>
              </a:rPr>
              <a:t> Infraestructura: el entrypoint del test-runner quedó incompatible con el endurecimiento de puertos (127.0.0.1) — afecta también a CI.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400" b="0" i="0">
                <a:solidFill>
                  <a:srgbClr val="1F2937"/>
                </a:solidFill>
                <a:latin typeface="Times New Roman"/>
              </a:rPr>
              <a:t>La pirámide cumple su propósito: detecta regresiones y sesgos </a:t>
            </a:r>
            <a:r>
              <a:rPr sz="1400" b="1" i="0">
                <a:solidFill>
                  <a:srgbClr val="1F2937"/>
                </a:solidFill>
                <a:latin typeface="Times New Roman"/>
              </a:rPr>
              <a:t>antes</a:t>
            </a:r>
            <a:r>
              <a:rPr sz="1400" b="0" i="0">
                <a:solidFill>
                  <a:srgbClr val="1F2937"/>
                </a:solidFill>
                <a:latin typeface="Times New Roman"/>
              </a:rPr>
              <a:t> de promover a producción.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4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El hallazgo ilustrativo: métricas globales vs. sub-grupos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El mismo modelo (WithRobot-AvgProduction):  R² </a:t>
            </a:r>
            <a:r>
              <a:rPr sz="1600" b="1" i="0">
                <a:solidFill>
                  <a:srgbClr val="1F2937"/>
                </a:solidFill>
                <a:latin typeface="Times New Roman"/>
              </a:rPr>
              <a:t>global = 1,000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   pero   R² del slice </a:t>
            </a:r>
            <a:r>
              <a:rPr sz="1600" b="1" i="0">
                <a:solidFill>
                  <a:srgbClr val="1F2937"/>
                </a:solidFill>
                <a:latin typeface="Times New Roman"/>
              </a:rPr>
              <a:t>harv_ladder = 0,00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 (n = 36).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Solo la evaluación por sub-grupos (Nivel 5) lo detecta — las métricas agregadas lo enmascaran por completo.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En una segunda corrida, el lazo champion/challenger </a:t>
            </a:r>
            <a:r>
              <a:rPr sz="1600" b="1" i="0">
                <a:solidFill>
                  <a:srgbClr val="1F2937"/>
                </a:solidFill>
                <a:latin typeface="Times New Roman"/>
              </a:rPr>
              <a:t>corrigió solo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 el slice harv_ground (0,21 → sobre el gate) sin intervención humana; harv_ladder persiste.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Explicación plausible desde el propio análisis estadístico: el término </a:t>
            </a:r>
            <a:r>
              <a:rPr sz="1600" b="1" i="0">
                <a:solidFill>
                  <a:srgbClr val="1F2937"/>
                </a:solidFill>
                <a:latin typeface="Times New Roman"/>
              </a:rPr>
              <a:t>W×Ladder es el predictor dominante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 de ese target (estudio base), y no existe en el Set A con que entrena producción → hipótesis de mitigación: incorporar el </a:t>
            </a:r>
            <a:r>
              <a:rPr sz="1600" b="1" i="0">
                <a:solidFill>
                  <a:srgbClr val="1F2937"/>
                </a:solidFill>
                <a:latin typeface="Times New Roman"/>
              </a:rPr>
              <a:t>Set C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>
                <a:solidFill>
                  <a:srgbClr val="1F2937"/>
                </a:solidFill>
                <a:latin typeface="Times New Roman"/>
              </a:rPr>
              <a:t>Verificación contra la realidad simulada: errores de predicción ≤ 3% (solo-humanos) y ≤ 0,33% (humano–robot) en la configuración de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5 · BREVE DEMOSTRACIÓN DE LO REALIZADO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Demostración en vivo — guión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1. Swagger UI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— POST /predict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interactivo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: 7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trabajadores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(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configuración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nunca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simulada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).</a:t>
            </a:r>
          </a:p>
          <a:p>
            <a:pPr>
              <a:spcAft>
                <a:spcPts val="700"/>
              </a:spcAft>
            </a:pPr>
            <a:r>
              <a:rPr sz="1400" b="0" i="0" dirty="0">
                <a:solidFill>
                  <a:srgbClr val="6B7280"/>
                </a:solidFill>
                <a:latin typeface="Times New Roman"/>
              </a:rPr>
              <a:t>      –  http://localhost:8000/docs</a:t>
            </a:r>
          </a:p>
          <a:p>
            <a:pPr>
              <a:spcAft>
                <a:spcPts val="7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2. </a:t>
            </a:r>
            <a:r>
              <a:rPr sz="1500" b="1" i="0" dirty="0" err="1">
                <a:solidFill>
                  <a:srgbClr val="1F2937"/>
                </a:solidFill>
                <a:latin typeface="Times New Roman"/>
              </a:rPr>
              <a:t>MLflow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— registry con las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versiones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por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slot y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experimento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quality-assurance (SSO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Keycloak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).</a:t>
            </a:r>
          </a:p>
          <a:p>
            <a:pPr>
              <a:spcAft>
                <a:spcPts val="700"/>
              </a:spcAft>
            </a:pPr>
            <a:r>
              <a:rPr sz="1400" b="0" i="0" dirty="0">
                <a:solidFill>
                  <a:srgbClr val="6B7280"/>
                </a:solidFill>
                <a:latin typeface="Times New Roman"/>
              </a:rPr>
              <a:t>      –  https://localhost/mlflow/   (</a:t>
            </a:r>
            <a:r>
              <a:rPr sz="1400" b="0" i="0" dirty="0" err="1">
                <a:solidFill>
                  <a:srgbClr val="6B7280"/>
                </a:solidFill>
                <a:latin typeface="Times New Roman"/>
              </a:rPr>
              <a:t>mlops</a:t>
            </a:r>
            <a:r>
              <a:rPr sz="1400" b="0" i="0" dirty="0">
                <a:solidFill>
                  <a:srgbClr val="6B7280"/>
                </a:solidFill>
                <a:latin typeface="Times New Roman"/>
              </a:rPr>
              <a:t>-user)</a:t>
            </a:r>
          </a:p>
          <a:p>
            <a:pPr>
              <a:spcAft>
                <a:spcPts val="7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3. Grafana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—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latencia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p50/p95/p99, p-values de drift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vivo.</a:t>
            </a:r>
          </a:p>
          <a:p>
            <a:pPr>
              <a:spcAft>
                <a:spcPts val="700"/>
              </a:spcAft>
            </a:pPr>
            <a:r>
              <a:rPr sz="1400" b="0" i="0" dirty="0">
                <a:solidFill>
                  <a:srgbClr val="6B7280"/>
                </a:solidFill>
                <a:latin typeface="Times New Roman"/>
              </a:rPr>
              <a:t>      –  https://localhost/grafana/</a:t>
            </a:r>
          </a:p>
          <a:p>
            <a:pPr>
              <a:spcAft>
                <a:spcPts val="7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4. Prometheus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— targets de scrape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estado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up.</a:t>
            </a:r>
          </a:p>
          <a:p>
            <a:pPr>
              <a:spcAft>
                <a:spcPts val="700"/>
              </a:spcAft>
            </a:pPr>
            <a:r>
              <a:rPr sz="1400" b="0" i="0" dirty="0">
                <a:solidFill>
                  <a:srgbClr val="6B7280"/>
                </a:solidFill>
                <a:latin typeface="Times New Roman"/>
              </a:rPr>
              <a:t>      –  http://localhost:9090/targets</a:t>
            </a:r>
          </a:p>
          <a:p>
            <a:pPr>
              <a:spcAft>
                <a:spcPts val="7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5. DVC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—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dvc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pull -r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gdriveremote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restauración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del dataset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desde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Google Drive.</a:t>
            </a:r>
          </a:p>
          <a:p>
            <a:pPr>
              <a:spcAft>
                <a:spcPts val="700"/>
              </a:spcAft>
            </a:pPr>
            <a:r>
              <a:rPr sz="15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6. </a:t>
            </a:r>
            <a:r>
              <a:rPr sz="1500" b="1" i="0" dirty="0" err="1">
                <a:solidFill>
                  <a:srgbClr val="1F2937"/>
                </a:solidFill>
                <a:latin typeface="Times New Roman"/>
              </a:rPr>
              <a:t>Pirámide</a:t>
            </a:r>
            <a:r>
              <a:rPr sz="1500" b="1" i="0" dirty="0">
                <a:solidFill>
                  <a:srgbClr val="1F2937"/>
                </a:solidFill>
                <a:latin typeface="Times New Roman"/>
              </a:rPr>
              <a:t> QA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— corrida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 vivo del test-runner (6 </a:t>
            </a:r>
            <a:r>
              <a:rPr sz="1500" b="0" i="0" dirty="0" err="1">
                <a:solidFill>
                  <a:srgbClr val="1F2937"/>
                </a:solidFill>
                <a:latin typeface="Times New Roman"/>
              </a:rPr>
              <a:t>niveles</a:t>
            </a:r>
            <a:r>
              <a:rPr sz="1500" b="0" i="0" dirty="0">
                <a:solidFill>
                  <a:srgbClr val="1F2937"/>
                </a:solidFill>
                <a:latin typeface="Times New Roman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419" sz="1200" b="0" i="1" dirty="0">
                <a:solidFill>
                  <a:srgbClr val="6B7280"/>
                </a:solidFill>
                <a:latin typeface="Times New Roman"/>
              </a:rPr>
              <a:t>Capturas de respaldo en la lámina siguiente, por si la demo en vivo falla.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5 · BREVE DEMOSTRACIÓN DE LO REALIZADO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Respaldo de demostración (capturas)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577840" cy="2286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55080" y="1600200"/>
            <a:ext cx="5577840" cy="22860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4069080"/>
            <a:ext cx="5577840" cy="22860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55080" y="4069080"/>
            <a:ext cx="5577840" cy="22860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300" b="0" i="1" dirty="0">
              <a:solidFill>
                <a:srgbClr val="6B7280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6 · DISCUSIÓN Y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Discusión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Métricas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globales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 vs. slices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los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gates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agregados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son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insuficientes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como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criterio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promoción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; la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evaluación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por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sub-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grupos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debe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vivir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el CI/CD, no solo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el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análisis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exploratorio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Reentrenamiento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automático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mantiene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el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desempeño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(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corrigió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un slice solo),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pero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no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sustituye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la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corrección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dirigida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— y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puede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cambiar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silenciosamente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un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interpolador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suave (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polinomial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)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por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una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función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escalonada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(boosting),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degradando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la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predicción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dotaciones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intermedias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MLOps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agro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prácticas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nivel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productivo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(SSO, TLS,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observabilidad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CI/CD, DVC dual) son viables con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recursos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modestos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— un solo host.</a:t>
            </a:r>
          </a:p>
          <a:p>
            <a:pPr>
              <a:spcAft>
                <a:spcPts val="13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Limitaciones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determinismo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del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simulador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(R² = 1,0 es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memorización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; sin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validación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campo no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debe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operarse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terreno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) ·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entorno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testing (cert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autofirmado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host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único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) · η multi-robot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hipotético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· n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pequeño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por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slice (36).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Times New Roman"/>
              </a:rPr>
              <a:t>6 · DISCUSIÓN Y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Times New Roman"/>
              </a:rPr>
              <a:t>Conclusiones y trabajo futuro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146304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Se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diseñó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desplegó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y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validó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 end-to-end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un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sistema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MLOps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cinco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capas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que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operacionaliza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el pipeline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predictivo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HRI: 8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modelos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servidos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con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seguridad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observabilidad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, drift +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reentrenamiento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automático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y CI/CD con QA de 6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niveles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PI-1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jerarquía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ANOVA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corroborada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por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los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rankings de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importancia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;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verificación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producción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programada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con Sets B/C.  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PI-2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: offline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dominan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polinomial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g.3 y boosting;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comparación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formal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por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slot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curso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.  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PI-3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latencia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&lt; 500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bajo TLS,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contrato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estable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(26/26),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reproducibilidad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por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versionado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del registry.</a:t>
            </a:r>
          </a:p>
          <a:p>
            <a:pPr>
              <a:spcAft>
                <a:spcPts val="1300"/>
              </a:spcAft>
            </a:pPr>
            <a:r>
              <a:rPr sz="1600" b="0" i="0" dirty="0">
                <a:solidFill>
                  <a:srgbClr val="B91C1C"/>
                </a:solidFill>
                <a:latin typeface="Times New Roman"/>
              </a:rPr>
              <a:t>• 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Trabajo</a:t>
            </a:r>
            <a:r>
              <a:rPr sz="1600" b="1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1F2937"/>
                </a:solidFill>
                <a:latin typeface="Times New Roman"/>
              </a:rPr>
              <a:t>futuro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: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corregir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hallazgos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(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i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), (ii), (iv) y re-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certificar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·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incorporar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Set C (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mitigación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del iii) ·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validación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de campo ·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simulación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multi-robot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explícita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· 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segundo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 dataset multi-</a:t>
            </a:r>
            <a:r>
              <a:rPr sz="1600" b="0" i="0" dirty="0" err="1">
                <a:solidFill>
                  <a:srgbClr val="1F2937"/>
                </a:solidFill>
                <a:latin typeface="Times New Roman"/>
              </a:rPr>
              <a:t>experimento</a:t>
            </a:r>
            <a:r>
              <a:rPr sz="1600" b="0" i="0" dirty="0">
                <a:solidFill>
                  <a:srgbClr val="1F2937"/>
                </a:solidFill>
                <a:latin typeface="Times New Roman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B91C1C"/>
                </a:solidFill>
                <a:latin typeface="Times New Roman"/>
              </a:rPr>
              <a:t>Gracias — ¿preguntas?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6B7280"/>
                </a:solidFill>
                <a:latin typeface="Times New Roman"/>
              </a:rPr>
              <a:t>Referencias</a:t>
            </a:r>
            <a:r>
              <a:rPr sz="1100" b="0" i="1" dirty="0">
                <a:solidFill>
                  <a:srgbClr val="6B7280"/>
                </a:solidFill>
                <a:latin typeface="Times New Roman"/>
              </a:rPr>
              <a:t> clave:  </a:t>
            </a:r>
            <a:r>
              <a:rPr sz="1100" b="0" i="1" dirty="0" err="1">
                <a:solidFill>
                  <a:srgbClr val="6B7280"/>
                </a:solidFill>
                <a:latin typeface="Times New Roman"/>
              </a:rPr>
              <a:t>Vásconez</a:t>
            </a:r>
            <a:r>
              <a:rPr sz="1100" b="0" i="1" dirty="0">
                <a:solidFill>
                  <a:srgbClr val="6B7280"/>
                </a:solidFill>
                <a:latin typeface="Times New Roman"/>
              </a:rPr>
              <a:t> &amp; </a:t>
            </a:r>
            <a:r>
              <a:rPr sz="1100" b="0" i="1" dirty="0" err="1">
                <a:solidFill>
                  <a:srgbClr val="6B7280"/>
                </a:solidFill>
                <a:latin typeface="Times New Roman"/>
              </a:rPr>
              <a:t>Auat</a:t>
            </a:r>
            <a:r>
              <a:rPr sz="1100" b="0" i="1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Times New Roman"/>
              </a:rPr>
              <a:t>Cheein</a:t>
            </a:r>
            <a:r>
              <a:rPr sz="1100" b="0" i="1" dirty="0">
                <a:solidFill>
                  <a:srgbClr val="6B7280"/>
                </a:solidFill>
                <a:latin typeface="Times New Roman"/>
              </a:rPr>
              <a:t> (2022), Biosystems Eng. · García &amp; </a:t>
            </a:r>
            <a:r>
              <a:rPr sz="1100" b="0" i="1" dirty="0" err="1">
                <a:solidFill>
                  <a:srgbClr val="6B7280"/>
                </a:solidFill>
                <a:latin typeface="Times New Roman"/>
              </a:rPr>
              <a:t>Vásconez</a:t>
            </a:r>
            <a:r>
              <a:rPr sz="1100" b="0" i="1" dirty="0">
                <a:solidFill>
                  <a:srgbClr val="6B7280"/>
                </a:solidFill>
                <a:latin typeface="Times New Roman"/>
              </a:rPr>
              <a:t> (2026, </a:t>
            </a:r>
            <a:r>
              <a:rPr sz="1100" b="0" i="1" dirty="0" err="1">
                <a:solidFill>
                  <a:srgbClr val="6B7280"/>
                </a:solidFill>
                <a:latin typeface="Times New Roman"/>
              </a:rPr>
              <a:t>en</a:t>
            </a:r>
            <a:r>
              <a:rPr sz="1100" b="0" i="1" dirty="0">
                <a:solidFill>
                  <a:srgbClr val="6B7280"/>
                </a:solidFill>
                <a:latin typeface="Times New Roman"/>
              </a:rPr>
              <a:t> </a:t>
            </a:r>
            <a:r>
              <a:rPr sz="1100" b="0" i="1" dirty="0" err="1">
                <a:solidFill>
                  <a:srgbClr val="6B7280"/>
                </a:solidFill>
                <a:latin typeface="Times New Roman"/>
              </a:rPr>
              <a:t>revisión</a:t>
            </a:r>
            <a:r>
              <a:rPr sz="1100" b="0" i="1" dirty="0">
                <a:solidFill>
                  <a:srgbClr val="6B7280"/>
                </a:solidFill>
                <a:latin typeface="Times New Roman"/>
              </a:rPr>
              <a:t>), Biosystems Eng. · </a:t>
            </a:r>
            <a:r>
              <a:rPr sz="1100" b="0" i="1" dirty="0" err="1">
                <a:solidFill>
                  <a:srgbClr val="6B7280"/>
                </a:solidFill>
                <a:latin typeface="Times New Roman"/>
              </a:rPr>
              <a:t>Langsrud</a:t>
            </a:r>
            <a:r>
              <a:rPr sz="1100" b="0" i="1" dirty="0">
                <a:solidFill>
                  <a:srgbClr val="6B7280"/>
                </a:solidFill>
                <a:latin typeface="Times New Roman"/>
              </a:rPr>
              <a:t> (2003) · ISO 8996:2004 · Emmi et al. (2014)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Times New Roman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Times New Roman"/>
              </a:rPr>
              <a:t>Sistema Predictivo con MLOps · Cosechas Humano–Robot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2642</Words>
  <Application>Microsoft Office PowerPoint</Application>
  <PresentationFormat>Panorámica</PresentationFormat>
  <Paragraphs>214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GARCIA FERNANDEZ IVÁN H</cp:lastModifiedBy>
  <cp:revision>4</cp:revision>
  <dcterms:created xsi:type="dcterms:W3CDTF">2013-01-27T09:14:16Z</dcterms:created>
  <dcterms:modified xsi:type="dcterms:W3CDTF">2026-07-14T15:16:49Z</dcterms:modified>
  <cp:category/>
</cp:coreProperties>
</file>